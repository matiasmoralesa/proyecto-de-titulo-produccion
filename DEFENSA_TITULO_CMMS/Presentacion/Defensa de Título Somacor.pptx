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Open Sans SemiBold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SemiBold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OpenSansSemiBold-italic.fntdata"/><Relationship Id="rId27" Type="http://schemas.openxmlformats.org/officeDocument/2006/relationships/font" Target="fonts/Open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4b3fb03d_2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04b3fb03d_24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04b3fb03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04b3fb0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7.png"/><Relationship Id="rId13" Type="http://schemas.openxmlformats.org/officeDocument/2006/relationships/image" Target="../media/image28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9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9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image" Target="../media/image47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image" Target="../media/image48.png"/><Relationship Id="rId5" Type="http://schemas.openxmlformats.org/officeDocument/2006/relationships/image" Target="../media/image33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126259"/>
            <a:ext cx="8572500" cy="181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25" y="786364"/>
            <a:ext cx="8572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3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BBF24"/>
                </a:solidFill>
                <a:latin typeface="Open Sans"/>
                <a:ea typeface="Open Sans"/>
                <a:cs typeface="Open Sans"/>
                <a:sym typeface="Open Sans"/>
              </a:rPr>
              <a:t>INACAP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95437" y="1827014"/>
            <a:ext cx="9001125" cy="1822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IMPLEMENTACIÓN DE SISTEMA CMMS PREDICTIVO CON IA PARA SOMACOR S.A.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612034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Autores: Lucas Gallardo Traslaviña | Mat</a:t>
            </a:r>
            <a:r>
              <a:rPr b="1"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1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Morales Alcavil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5107334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Profesor Guía: Víctor Valenzuela Ruz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5701605"/>
            <a:ext cx="8572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Copiapó, Chile - Diciembre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809625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Contexto y Problemática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809625"/>
            <a:ext cx="57150" cy="990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181225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"Dolor" Operacional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7908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Actualmente, la gestión de mantenimiento en La Coipa 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Reactiva (Run-to-Failure)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y basada en procesos manuales.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4086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Ceguera de Datos: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No hay visibilidad del estado real de la flota.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838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Costo Crítico: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$700.000 diarios en pérdidas por equipo detenido.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5911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Burocracia: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Planillas de papel ilegibles y retrasadas.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38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910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643562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546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3546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35460"/>
            <a:ext cx="3492549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19887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Implementar un CMMS capaz de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anticipar fallas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antes de que ocurran.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94225" y="401181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Digitalizar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447853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Eliminar el papel mediante interfaces web y móviles para una trazabilidad completa.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72524" y="401181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Predecir (IA)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5074" y="447853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Desarrollar un modelo Random Forest para detectar anomalías tempranas.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0824" y="401181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Notificar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3374" y="447853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Implementar un Bot Omnicanal para alertas en tiempo real vía Telegram.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321171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32117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262" y="321171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 del Proyecto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82205"/>
            <a:ext cx="5238750" cy="196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54793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Visión General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01466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Una plataforma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SaaS (Software as a Service)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moderna que integra inteligencia artificial directamente en el flujo de trabajo operativo.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1887" y="3263205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5312" y="351085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1562" y="326320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91662" y="351085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67912" y="3263205"/>
            <a:ext cx="5524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762750" y="4025205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Flujo Automatizado de Datos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41195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52500" y="41195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Arquitectura Cloud Escalable.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76300" y="44243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52500" y="44243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Interfaz amigable para operadores (No expertos TI).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6300" y="4729162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52500" y="4729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Ciclo cerrado: Datos -&gt; Análisis -&gt; Acción.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Propuesta de Solución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9422"/>
            <a:ext cx="5334000" cy="3141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59422"/>
            <a:ext cx="5334000" cy="314116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2043261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Transformación de un modelo reactivo manual a un ecosistema digital proactivo.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054697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Situación Actual (As-Is)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81775" y="3054697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C5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Situación Propuesta (To-Be)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7374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66775" y="3521422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Detección Reactiva: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La acción inicia solo cuando el equipo ya ha fallado.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4212877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Silos de Información: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Datos atrapados en papel o excels locales.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66775" y="4904333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Alta Latencia: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Horas o días para reportar una anomalía.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07374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581775" y="3521422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Detección Predictiva: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La IA alerta patrones anómalos 24/7.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81775" y="4212877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Flujo Digital: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Datos centralizados y accesibles en la nube.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1775" y="4904333"/>
            <a:ext cx="4743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Tiempo Real: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Notificación inmediata al técnico vía Telegram.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573809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265265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95672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5738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426526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495672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ngeniería de Procesos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571500"/>
            <a:ext cx="5730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571500" y="23002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Diseño Desacoplado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27670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Utilizamos una arquitectura asíncrona para garantizar que el análisis de datos pesados no ralentice la experiencia del usuario.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38719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Backend: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Django REST Framework.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427196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Asincronía: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Celery + Redis para procesamiento en segundo plano.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4976812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IA Core: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Scikit-learn (Random Forest).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243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43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292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Sistema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8" title="image_2025-12-13_17045595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0799" y="1066800"/>
            <a:ext cx="4989374" cy="525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99532"/>
            <a:ext cx="5238750" cy="25068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571500" y="182790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Random Forest Classifier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229463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Seleccionado por su robustez en entornos industriales y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explicabilidad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. El gráfico adjunto muestra qué variables influyen más en la predicción.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368550" y="5350225"/>
            <a:ext cx="523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de Importancia de Variables (Feature Importance)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62000" y="378053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Estrategia "Cold Start":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Uso de datos sintéticos iniciales basados en reglas expertas.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62000" y="458063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Open Sans"/>
                <a:ea typeface="Open Sans"/>
                <a:cs typeface="Open Sans"/>
                <a:sym typeface="Open Sans"/>
              </a:rPr>
              <a:t>Recall: 81%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075932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Priorizamos detectar todas las fallas posibles (evitar falsos negativos).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Cerebro: Modelo Predictivo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56138" r="0" t="0"/>
          <a:stretch/>
        </p:blipFill>
        <p:spPr>
          <a:xfrm>
            <a:off x="6036525" y="2784100"/>
            <a:ext cx="5748075" cy="21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title="dashboard pagin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250" y="1311200"/>
            <a:ext cx="7213501" cy="38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56197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Visualización en tiempo real y notificaciones push directas al bolsillo del operador.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80250" y="5141875"/>
            <a:ext cx="7213500" cy="18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Dashboard de Gestión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004125" y="5141875"/>
            <a:ext cx="3606900" cy="18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Alerta Omnicanal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Interfaz y Experiencia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 title="image_2025-12-13_1640428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050" y="1311200"/>
            <a:ext cx="2249701" cy="383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hacer que la tabla se vea bien no se pueden distingir bien los datos de la diapositiva de factivilidad economica" id="220" name="Google Shape;2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" y="250706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3612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3612"/>
            <a:ext cx="3492549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794225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Negocio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66775" y="40052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Reducción del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30%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en costos correctivos y minimización de multas por detención.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572524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645074" y="4005262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Arquitectura moderna, escalable y preparada para el crecimiento a futuro de </a:t>
            </a:r>
            <a:r>
              <a:rPr lang="en-US" sz="150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multiples faenas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350824" y="353853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Social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423374" y="40052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Mayor seguridad para el operador al predecir fallas catastróficas en ruta.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38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73843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Impacto y Conclusiones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5500"/>
            <a:ext cx="3492549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5500"/>
            <a:ext cx="3492549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794225" y="33718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Integración IoT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866775" y="3838575"/>
            <a:ext cx="2901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Conexión con sensores físicos (CanBus/GPS) o </a:t>
            </a:r>
            <a:r>
              <a:rPr lang="en-US" sz="150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horometros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para lectura de datos en tiempo real sin intervención humana.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572524" y="33718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Migración ONNX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4645074" y="38385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Optimización del modelo de IA para inferencia de ultra-baja latencia y portabilidad.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350824" y="33718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Twin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423374" y="38385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Representación virtual completa de la flota para simulaciones avanzadas de desgaste.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5717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5717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262" y="257175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Trabajos Futuros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571500"/>
            <a:ext cx="57150" cy="495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3315652" y="1570732"/>
            <a:ext cx="556069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MUCHAS GRACIAS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3448050" y="2368897"/>
            <a:ext cx="5295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¿Preguntas?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0262" y="4464248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3448050" y="4940498"/>
            <a:ext cx="52959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Repositorio del Proyecto</a:t>
            </a:r>
            <a:br>
              <a:rPr b="0" i="0" lang="en-US" sz="10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https://github.com/matiasmoralesa/proyecto-de-titulo-produccion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581400" y="3306067"/>
            <a:ext cx="261032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Lucas Gallardo Traslaviña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3581400" y="3687067"/>
            <a:ext cx="24860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Ingeniería en Informática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448425" y="3306067"/>
            <a:ext cx="22702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Matías Morales Alcavil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448425" y="3687067"/>
            <a:ext cx="2162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Ingeniería en Informática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